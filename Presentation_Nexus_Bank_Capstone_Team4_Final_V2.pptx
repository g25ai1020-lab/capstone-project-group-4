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0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72675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25ai1020-lab/Capstone-Project-Group-4.git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drive.google.com/drive/folders/1mR8333WS1yrI_43AE5xzd_46PAwNNXOb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214884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ANALYTICS &amp; MODELLING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1097280" y="2724912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Engineering, Forecasting and Fraud Detection Capstone for Nexus Bank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4480560" y="3337560"/>
            <a:ext cx="3200400" cy="0"/>
          </a:xfrm>
          <a:prstGeom prst="line">
            <a:avLst/>
          </a:prstGeom>
          <a:noFill/>
          <a:ln w="19050">
            <a:solidFill>
              <a:srgbClr val="C9A24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361188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Gautam Pant (G25AI1019)  |  Durgesh Pandey (G25AI1018)  |  Gundlapalli Venkata Suneel Kumar (G25AI1020)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3913632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Divya Daiyya (G25AI1017)  |  Devabhakthuni Vijay Sai Krishna (G25AI1016)     —     Team 4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461772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Institute of Technology Jodhpur  |  School of Artificial Intelligence &amp; Data Science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4956048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Postgraduate Diploma in Data Engineering  •  in association with Futurense.uni  •  July 2026</a:t>
            </a:r>
            <a:endParaRPr lang="en-US" sz="1200" dirty="0"/>
          </a:p>
        </p:txBody>
      </p:sp>
      <p:pic>
        <p:nvPicPr>
          <p:cNvPr id="10" name="Picture 9" descr="Institute Logo | Indian Institute of Technology Jodhpur | IIT Jodhpur">
            <a:extLst>
              <a:ext uri="{FF2B5EF4-FFF2-40B4-BE49-F238E27FC236}">
                <a16:creationId xmlns:a16="http://schemas.microsoft.com/office/drawing/2014/main" id="{9C156EE0-4782-7D49-082A-E78334A72A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9171" y="244221"/>
            <a:ext cx="1555750" cy="17125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Story We're About to Tell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six-week brief to a real analytics pipeline, and everything that changed once real data replaced test data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4206240"/>
          </a:xfrm>
          <a:prstGeom prst="roundRect">
            <a:avLst>
              <a:gd name="adj" fmla="val 4211"/>
            </a:avLst>
          </a:prstGeom>
          <a:solidFill>
            <a:srgbClr val="CADCFC"/>
          </a:solidFill>
          <a:ln/>
        </p:spPr>
      </p:sp>
      <p:sp>
        <p:nvSpPr>
          <p:cNvPr id="5" name="Shape 3"/>
          <p:cNvSpPr/>
          <p:nvPr/>
        </p:nvSpPr>
        <p:spPr>
          <a:xfrm>
            <a:off x="1485900" y="187452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485900" y="1874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31520" y="278892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3337560"/>
            <a:ext cx="2148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Bank needs price forecasting + fraud detection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383280" y="1600200"/>
            <a:ext cx="2606040" cy="4206240"/>
          </a:xfrm>
          <a:prstGeom prst="roundRect">
            <a:avLst>
              <a:gd name="adj" fmla="val 4211"/>
            </a:avLst>
          </a:prstGeom>
          <a:solidFill>
            <a:srgbClr val="F4F0E3"/>
          </a:solidFill>
          <a:ln/>
        </p:spPr>
      </p:sp>
      <p:sp>
        <p:nvSpPr>
          <p:cNvPr id="10" name="Shape 8"/>
          <p:cNvSpPr/>
          <p:nvPr/>
        </p:nvSpPr>
        <p:spPr>
          <a:xfrm>
            <a:off x="4320540" y="187452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320540" y="1874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566160" y="278892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11880" y="3337560"/>
            <a:ext cx="2148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pipeline — ingestion to interactive dashboard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17920" y="1600200"/>
            <a:ext cx="2606040" cy="4206240"/>
          </a:xfrm>
          <a:prstGeom prst="roundRect">
            <a:avLst>
              <a:gd name="adj" fmla="val 4211"/>
            </a:avLst>
          </a:prstGeom>
          <a:solidFill>
            <a:srgbClr val="CADCFC"/>
          </a:solidFill>
          <a:ln/>
        </p:spPr>
      </p:sp>
      <p:sp>
        <p:nvSpPr>
          <p:cNvPr id="15" name="Shape 13"/>
          <p:cNvSpPr/>
          <p:nvPr/>
        </p:nvSpPr>
        <p:spPr>
          <a:xfrm>
            <a:off x="7155180" y="187452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7155180" y="1874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400800" y="278892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Twist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46520" y="3337560"/>
            <a:ext cx="2148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 changed our fraud model recommendation completely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052560" y="1600200"/>
            <a:ext cx="2606040" cy="4206240"/>
          </a:xfrm>
          <a:prstGeom prst="roundRect">
            <a:avLst>
              <a:gd name="adj" fmla="val 4211"/>
            </a:avLst>
          </a:prstGeom>
          <a:solidFill>
            <a:srgbClr val="F4F0E3"/>
          </a:solidFill>
          <a:ln/>
        </p:spPr>
      </p:sp>
      <p:sp>
        <p:nvSpPr>
          <p:cNvPr id="20" name="Shape 18"/>
          <p:cNvSpPr/>
          <p:nvPr/>
        </p:nvSpPr>
        <p:spPr>
          <a:xfrm>
            <a:off x="9989820" y="187452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9989820" y="1874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9235440" y="278892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Payoff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281160" y="3337560"/>
            <a:ext cx="2148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findings, a working system, and a clear recommendation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Problem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Bank's analytics division asked us to solve two very different problems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4206240"/>
          </a:xfrm>
          <a:prstGeom prst="roundRect">
            <a:avLst>
              <a:gd name="adj" fmla="val 2609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288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Forecasting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" y="2423160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 the portfolio behaving day to day?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stocks are riskier / more volatile right now?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near-term price direction be predicted at all?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50749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continuous, time-dependent forecasting problem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1554480"/>
            <a:ext cx="5394960" cy="4206240"/>
          </a:xfrm>
          <a:prstGeom prst="roundRect">
            <a:avLst>
              <a:gd name="adj" fmla="val 2609"/>
            </a:avLst>
          </a:prstGeom>
          <a:solidFill>
            <a:srgbClr val="B3282D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0" y="18288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583680" y="2423160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C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fraudulent transactions before real losses occur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C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is extremely rare — about 0.17% of transactions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C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with too many false alarms won't be trusted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83680" y="50749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FF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rare-event classification problem under heavy imbalance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Solution: One End-to-End Pipeline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three raw data sources to business recommendations, all in one automated flow</a:t>
            </a:r>
            <a:endParaRPr lang="en-US" sz="1350" dirty="0"/>
          </a:p>
        </p:txBody>
      </p:sp>
      <p:pic>
        <p:nvPicPr>
          <p:cNvPr id="4" name="Image 0" descr="/home/claude/ppt_assets/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8488" y="1417320"/>
            <a:ext cx="8961120" cy="519605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Data, Not Just Realistic Data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in this deck comes from live sources, not synthetic stand-ins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CADCF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54480"/>
            <a:ext cx="2103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Yahoo Finance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017520" y="1554480"/>
            <a:ext cx="6217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prices — AAPL, MSFT, JPM, XOM, GOOGL (2018–2025)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235440" y="1554480"/>
            <a:ext cx="2194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9,770 rows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4F0E3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651760"/>
            <a:ext cx="2103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Yahoo Finance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017520" y="2651760"/>
            <a:ext cx="6217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FX rates — EUR/USD, GBP/USD, USD/JPY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235440" y="2651760"/>
            <a:ext cx="2194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5,865 rows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74904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749040"/>
            <a:ext cx="2103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017520" y="3749040"/>
            <a:ext cx="6217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GDP, CPI, Federal Funds Rate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235440" y="3749040"/>
            <a:ext cx="2194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monthly rows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484632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4F0E3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846320"/>
            <a:ext cx="2103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017520" y="4846320"/>
            <a:ext cx="6217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Credit Card Fraud Detection dataset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235440" y="4846320"/>
            <a:ext cx="2194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283,726 rows, 473 fraud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integration snag we hit and fixed: newer yfinance versions return capitalised, sometimes nested column names — normalised immediately after download.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Cleaning &amp; Exploring the Real Data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at the raw shape of the data before touching a single feature</a:t>
            </a:r>
            <a:endParaRPr lang="en-US" sz="1350" dirty="0"/>
          </a:p>
        </p:txBody>
      </p:sp>
      <p:pic>
        <p:nvPicPr>
          <p:cNvPr id="4" name="Image 0" descr="/home/claude/ppt_assets/07_eda_missing_valu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1371600"/>
            <a:ext cx="3680460" cy="2103120"/>
          </a:xfrm>
          <a:prstGeom prst="rect">
            <a:avLst/>
          </a:prstGeom>
        </p:spPr>
      </p:pic>
      <p:pic>
        <p:nvPicPr>
          <p:cNvPr id="5" name="Image 1" descr="/home/claude/ppt_assets/09_eda_class_imbala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4024" y="1371600"/>
            <a:ext cx="2628900" cy="2103120"/>
          </a:xfrm>
          <a:prstGeom prst="rect">
            <a:avLst/>
          </a:prstGeom>
        </p:spPr>
      </p:pic>
      <p:pic>
        <p:nvPicPr>
          <p:cNvPr id="6" name="Image 2" descr="/home/claude/ppt_assets/10_eda_amount_distribu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0376" y="1371600"/>
            <a:ext cx="3680460" cy="210312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48640" y="3703320"/>
            <a:ext cx="11064240" cy="2331720"/>
          </a:xfrm>
          <a:prstGeom prst="roundRect">
            <a:avLst>
              <a:gd name="adj" fmla="val 3922"/>
            </a:avLst>
          </a:prstGeom>
          <a:solidFill>
            <a:srgbClr val="F4F0E3"/>
          </a:solidFill>
          <a:ln/>
        </p:spPr>
      </p:sp>
      <p:sp>
        <p:nvSpPr>
          <p:cNvPr id="8" name="Text 3"/>
          <p:cNvSpPr/>
          <p:nvPr/>
        </p:nvSpPr>
        <p:spPr>
          <a:xfrm>
            <a:off x="868680" y="3886200"/>
            <a:ext cx="10424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tickers were missing exactly 72 of the same trading days — a strong sign this is genuine market structure (shared US holidays), not a data bug.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40%-move outlier rule fired zero times on real data — but correctly caught every planted error in our earlier synthetic test.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1,081 duplicate transactions were found in the real 284,807-row Kaggle file — a genuine data-quality issue our synthetic data never had.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Engineering, Grounded in Theory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indicator traces back to a real, citable source — and computed causally, with no look-ahead</a:t>
            </a:r>
            <a:endParaRPr lang="en-US" sz="1350" dirty="0"/>
          </a:p>
        </p:txBody>
      </p:sp>
      <p:pic>
        <p:nvPicPr>
          <p:cNvPr id="4" name="Image 0" descr="/home/claude/ppt_assets/01_price_trend_aap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417320"/>
            <a:ext cx="5349240" cy="267919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371600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CADCFC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1426464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Averages (MA7/MA30, EMA)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" y="1810512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day-to-day noise to reveal trend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2423160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CADCFC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2478024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Bollinger Bands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77240" y="2862072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Bollinger (2001) — bands at ±2σ around a moving average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3474720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CADCFC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3529584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RSI-14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77240" y="3913632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Wilder (1978) — momentum oscillator, 0–100 scale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48640" y="4526280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CADCFC"/>
          </a:solidFill>
          <a:ln/>
        </p:spPr>
      </p:sp>
      <p:sp>
        <p:nvSpPr>
          <p:cNvPr id="15" name="Text 12"/>
          <p:cNvSpPr/>
          <p:nvPr/>
        </p:nvSpPr>
        <p:spPr>
          <a:xfrm>
            <a:off x="777240" y="4581144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 (20-day, annualised)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77240" y="4965192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quant-finance risk measure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48640" y="5623560"/>
            <a:ext cx="11109960" cy="960120"/>
          </a:xfrm>
          <a:prstGeom prst="roundRect">
            <a:avLst>
              <a:gd name="adj" fmla="val 7619"/>
            </a:avLst>
          </a:prstGeom>
          <a:solidFill>
            <a:srgbClr val="FFF3E0"/>
          </a:solidFill>
          <a:ln/>
        </p:spPr>
      </p:sp>
      <p:sp>
        <p:nvSpPr>
          <p:cNvPr id="18" name="Text 15"/>
          <p:cNvSpPr/>
          <p:nvPr/>
        </p:nvSpPr>
        <p:spPr>
          <a:xfrm>
            <a:off x="822960" y="5623560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bug we caught: an early RSI draft used a centred rolling window — a subtle look-ahead bias — found by checking output by hand against Wilder's own textbook example.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Forecasting: Accurate, But Honestly Flat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ARIMA(5,1,0), walk-forward backtested on 30 real trading days, five tickers</a:t>
            </a:r>
            <a:endParaRPr lang="en-US" sz="1350" dirty="0"/>
          </a:p>
        </p:txBody>
      </p:sp>
      <p:pic>
        <p:nvPicPr>
          <p:cNvPr id="4" name="Image 0" descr="/home/claude/ppt_assets/02_forecast_vs_actu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25880"/>
            <a:ext cx="6949440" cy="34747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0" y="1325880"/>
            <a:ext cx="388620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0" y="1417320"/>
            <a:ext cx="3886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3.67%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7772400" y="214884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30-day MAPE across 5 tickers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772400" y="2880360"/>
            <a:ext cx="3886200" cy="2834640"/>
          </a:xfrm>
          <a:prstGeom prst="roundRect">
            <a:avLst>
              <a:gd name="adj" fmla="val 3226"/>
            </a:avLst>
          </a:prstGeom>
          <a:solidFill>
            <a:srgbClr val="F4F0E3"/>
          </a:solidFill>
          <a:ln/>
        </p:spPr>
      </p:sp>
      <p:sp>
        <p:nvSpPr>
          <p:cNvPr id="9" name="Text 6"/>
          <p:cNvSpPr/>
          <p:nvPr/>
        </p:nvSpPr>
        <p:spPr>
          <a:xfrm>
            <a:off x="8001000" y="3063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finding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001000" y="347472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forecast line comes out nearly flat. Adding a drift term made it worse, not better — on every ticker.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001000" y="452628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believe this reflects the Efficient Market Hypothesis (Fama, 1970) — not a bug.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Fraud Detection: The Real-Data Reveal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biggest thing that changed once synthetic data was replaced with the real Kaggle dataset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38328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1732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931920" y="1417320"/>
            <a:ext cx="237744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3931920" y="14173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09360" y="1417320"/>
            <a:ext cx="237744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0" y="14173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686800" y="1417320"/>
            <a:ext cx="237744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0" y="14173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1920240"/>
            <a:ext cx="3383280" cy="594360"/>
          </a:xfrm>
          <a:prstGeom prst="rect">
            <a:avLst/>
          </a:prstGeom>
          <a:solidFill>
            <a:srgbClr val="FDE8E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192024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931920" y="1920240"/>
            <a:ext cx="2377440" cy="594360"/>
          </a:xfrm>
          <a:prstGeom prst="rect">
            <a:avLst/>
          </a:prstGeom>
          <a:solidFill>
            <a:srgbClr val="FDE8E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31920" y="192024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3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5.5%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309360" y="1920240"/>
            <a:ext cx="2377440" cy="594360"/>
          </a:xfrm>
          <a:prstGeom prst="rect">
            <a:avLst/>
          </a:prstGeom>
          <a:solidFill>
            <a:srgbClr val="FDE8E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192024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3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89.0%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686800" y="1920240"/>
            <a:ext cx="2377440" cy="594360"/>
          </a:xfrm>
          <a:prstGeom prst="rect">
            <a:avLst/>
          </a:prstGeom>
          <a:solidFill>
            <a:srgbClr val="FDE8E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0" y="192024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3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0.970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2514600"/>
            <a:ext cx="3383280" cy="594360"/>
          </a:xfrm>
          <a:prstGeom prst="rect">
            <a:avLst/>
          </a:prstGeom>
          <a:solidFill>
            <a:srgbClr val="E3F2E3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251460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3931920" y="2514600"/>
            <a:ext cx="2377440" cy="594360"/>
          </a:xfrm>
          <a:prstGeom prst="rect">
            <a:avLst/>
          </a:prstGeom>
          <a:solidFill>
            <a:srgbClr val="E3F2E3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31920" y="251460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92.6%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309360" y="2514600"/>
            <a:ext cx="2377440" cy="594360"/>
          </a:xfrm>
          <a:prstGeom prst="rect">
            <a:avLst/>
          </a:prstGeom>
          <a:solidFill>
            <a:srgbClr val="E3F2E3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251460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74.6%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8686800" y="2514600"/>
            <a:ext cx="2377440" cy="594360"/>
          </a:xfrm>
          <a:prstGeom prst="rect">
            <a:avLst/>
          </a:prstGeom>
          <a:solidFill>
            <a:srgbClr val="E3F2E3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0" y="251460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0.963</a:t>
            </a:r>
            <a:endParaRPr lang="en-US" sz="1500" dirty="0"/>
          </a:p>
        </p:txBody>
      </p:sp>
      <p:pic>
        <p:nvPicPr>
          <p:cNvPr id="28" name="Image 0" descr="/home/claude/ppt_assets/05_roc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3291840"/>
            <a:ext cx="3749040" cy="3127248"/>
          </a:xfrm>
          <a:prstGeom prst="rect">
            <a:avLst/>
          </a:prstGeom>
        </p:spPr>
      </p:pic>
      <p:sp>
        <p:nvSpPr>
          <p:cNvPr id="29" name="Shape 26"/>
          <p:cNvSpPr/>
          <p:nvPr/>
        </p:nvSpPr>
        <p:spPr>
          <a:xfrm>
            <a:off x="548640" y="3291840"/>
            <a:ext cx="7040880" cy="3127248"/>
          </a:xfrm>
          <a:prstGeom prst="roundRect">
            <a:avLst>
              <a:gd name="adj" fmla="val 2924"/>
            </a:avLst>
          </a:prstGeom>
          <a:solidFill>
            <a:srgbClr val="F4F0E3"/>
          </a:solidFill>
          <a:ln/>
        </p:spPr>
      </p:sp>
      <p:sp>
        <p:nvSpPr>
          <p:cNvPr id="30" name="Text 27"/>
          <p:cNvSpPr/>
          <p:nvPr/>
        </p:nvSpPr>
        <p:spPr>
          <a:xfrm>
            <a:off x="822960" y="3456432"/>
            <a:ext cx="64922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synthetic data, both models looked almost perfect (AUC ≈ 1.00).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real data, Logistic Regression's precision collapsed to 5.5% — 19 of every 20 fraud alerts are false alarms.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held up: 92.6% precision, 74.6% recall.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reversed our recommendation to Nexus Bank.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Impact &amp; Our Recommendation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estimates built on simple, stated assumptions — not audited financial projections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4206240"/>
          </a:xfrm>
          <a:prstGeom prst="roundRect">
            <a:avLst>
              <a:gd name="adj" fmla="val 2609"/>
            </a:avLst>
          </a:prstGeom>
          <a:solidFill>
            <a:srgbClr val="2A3B7A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2880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Nexus Bank used Logistic Regression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514600"/>
            <a:ext cx="47548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fraud team acting on its alerts would spend the overwhelming majority of their time chasing false alarms — at scale, this is how teams stop trusting alerts altogether.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63640" y="1554480"/>
            <a:ext cx="5394960" cy="4206240"/>
          </a:xfrm>
          <a:prstGeom prst="roundRect">
            <a:avLst>
              <a:gd name="adj" fmla="val 2609"/>
            </a:avLst>
          </a:prstGeom>
          <a:solidFill>
            <a:srgbClr val="2A3B7A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0" y="182880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Recommendation: Random Forest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83680" y="2514600"/>
            <a:ext cx="4754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92.6% precision means the large majority of alerts are genuine fraud — investigation time is spent efficiently, and the model earns the team's trust.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83680" y="429768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model: best used as a monitoring / early-warning signal, not a standalone trading trigger.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Genuinely Interactive Dashboard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Plotly — hover, zoom, pan, and a ticker-selector, in one self-contained HTML file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1280160" y="5897880"/>
            <a:ext cx="2194560" cy="45720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6" name="Text 3"/>
          <p:cNvSpPr/>
          <p:nvPr/>
        </p:nvSpPr>
        <p:spPr>
          <a:xfrm>
            <a:off x="1280160" y="58978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Trend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3657600" y="5897880"/>
            <a:ext cx="2194560" cy="45720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0" y="58978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035040" y="5897880"/>
            <a:ext cx="2194560" cy="45720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10" name="Text 7"/>
          <p:cNvSpPr/>
          <p:nvPr/>
        </p:nvSpPr>
        <p:spPr>
          <a:xfrm>
            <a:off x="6035040" y="58978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Heatmap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412480" y="5897880"/>
            <a:ext cx="2194560" cy="45720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12" name="Text 9"/>
          <p:cNvSpPr/>
          <p:nvPr/>
        </p:nvSpPr>
        <p:spPr>
          <a:xfrm>
            <a:off x="8412480" y="58978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Timeline</a:t>
            </a:r>
            <a:endParaRPr lang="en-US" sz="11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D6DD7D1-E019-6E40-748F-53F50B0A91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8786" y="1280161"/>
            <a:ext cx="5687918" cy="214884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5FFF66B-F89A-2FE8-CC05-3C624C4B20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80160"/>
            <a:ext cx="5687918" cy="214884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F1F5F58-1D8B-0420-18B4-A2A5703D8D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85" y="3511867"/>
            <a:ext cx="5606733" cy="213314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7AF1C7D-2DBE-FB70-E607-1A4459E31A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8786" y="3511867"/>
            <a:ext cx="5687918" cy="213314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4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people, five roles, one pipeline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94360" y="1463040"/>
            <a:ext cx="2148840" cy="4480560"/>
          </a:xfrm>
          <a:prstGeom prst="roundRect">
            <a:avLst>
              <a:gd name="adj" fmla="val 4255"/>
            </a:avLst>
          </a:prstGeom>
          <a:solidFill>
            <a:srgbClr val="CADCFC"/>
          </a:solidFill>
          <a:ln/>
        </p:spPr>
      </p:sp>
      <p:pic>
        <p:nvPicPr>
          <p:cNvPr id="5" name="Image 0" descr="/home/claude/ppt_assets/durgesh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14400" y="1691640"/>
            <a:ext cx="1508760" cy="1508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333756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Durgesh Pandey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85800" y="379476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G25AI1018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31520" y="4114800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Engineer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880360" y="1463040"/>
            <a:ext cx="2148840" cy="4480560"/>
          </a:xfrm>
          <a:prstGeom prst="roundRect">
            <a:avLst>
              <a:gd name="adj" fmla="val 4255"/>
            </a:avLst>
          </a:prstGeom>
          <a:solidFill>
            <a:srgbClr val="F4F0E3"/>
          </a:solidFill>
          <a:ln/>
        </p:spPr>
      </p:sp>
      <p:pic>
        <p:nvPicPr>
          <p:cNvPr id="10" name="Image 1" descr="/home/claude/ppt_assets/venkat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200400" y="1691640"/>
            <a:ext cx="1154723" cy="1508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971800" y="333756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Venkat Suneel Kumar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2971800" y="379476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G25AI1020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3017520" y="4114800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/ Feature Engineer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166360" y="1463040"/>
            <a:ext cx="2148840" cy="4480560"/>
          </a:xfrm>
          <a:prstGeom prst="roundRect">
            <a:avLst>
              <a:gd name="adj" fmla="val 4255"/>
            </a:avLst>
          </a:prstGeom>
          <a:solidFill>
            <a:srgbClr val="CADCFC"/>
          </a:solidFill>
          <a:ln/>
        </p:spPr>
      </p:sp>
      <p:pic>
        <p:nvPicPr>
          <p:cNvPr id="15" name="Image 2" descr="/home/claude/ppt_assets/gautam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486400" y="1691640"/>
            <a:ext cx="1508760" cy="1508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257800" y="333756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Gautam Pant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5257800" y="379476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G25AI1019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5303520" y="4114800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Lead / Reviewer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7452360" y="1463040"/>
            <a:ext cx="2148840" cy="4480560"/>
          </a:xfrm>
          <a:prstGeom prst="roundRect">
            <a:avLst>
              <a:gd name="adj" fmla="val 4255"/>
            </a:avLst>
          </a:prstGeom>
          <a:solidFill>
            <a:srgbClr val="F4F0E3"/>
          </a:solidFill>
          <a:ln/>
        </p:spPr>
      </p:sp>
      <p:pic>
        <p:nvPicPr>
          <p:cNvPr id="20" name="Image 3" descr="/home/claude/ppt_assets/divya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772401" y="1691640"/>
            <a:ext cx="1348154" cy="1508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543800" y="333756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Divya Daiyya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7543800" y="379476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G25AI1017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7589520" y="4114800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&amp; Data Quality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9738360" y="1463040"/>
            <a:ext cx="2148840" cy="4480560"/>
          </a:xfrm>
          <a:prstGeom prst="roundRect">
            <a:avLst>
              <a:gd name="adj" fmla="val 4255"/>
            </a:avLst>
          </a:prstGeom>
          <a:solidFill>
            <a:srgbClr val="CADCFC"/>
          </a:solidFill>
          <a:ln/>
        </p:spPr>
      </p:sp>
      <p:pic>
        <p:nvPicPr>
          <p:cNvPr id="25" name="Image 4" descr="/home/claude/ppt_assets/vijaysai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0058400" y="1691640"/>
            <a:ext cx="1508760" cy="150876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829800" y="333756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Vijay Sai Krishna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9829800" y="379476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G25AI1016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9875520" y="4114800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Business-Technical Liaison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Institute of Technology Jodhpur  •  Postgraduate Diploma in Data Engineering  •  in association with Futurense.uni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Real Data Taught Us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honest findings we chose to explain rather than hide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09728" cy="1051560"/>
          </a:xfrm>
          <a:prstGeom prst="roundRect">
            <a:avLst/>
          </a:prstGeom>
          <a:solidFill>
            <a:srgbClr val="B3282D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50876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7F7F7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600200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3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model reversal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840480" y="1600200"/>
            <a:ext cx="7635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Regression's precision collapsed on real data (5.5%) — Random Forest became our clear recommendation.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97480"/>
            <a:ext cx="109728" cy="1051560"/>
          </a:xfrm>
          <a:prstGeom prst="roundRect">
            <a:avLst/>
          </a:prstGeom>
          <a:solidFill>
            <a:srgbClr val="1E2761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269748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7F7F7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788920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forecasts, real theory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840480" y="2788920"/>
            <a:ext cx="7635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ARIMA's flat forecast reflects the Efficient Market Hypothesis, not a bug — adding drift made it worse.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109728" cy="1051560"/>
          </a:xfrm>
          <a:prstGeom prst="roundRect">
            <a:avLst/>
          </a:prstGeom>
          <a:solidFill>
            <a:srgbClr val="C9A24B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388620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7F7F7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3977640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schema gap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840480" y="3977640"/>
            <a:ext cx="7635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public Kaggle dataset has no account_id field, so our account-level aggregation couldn't run as planned.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074920"/>
            <a:ext cx="109728" cy="1051560"/>
          </a:xfrm>
          <a:prstGeom prst="roundRect">
            <a:avLst/>
          </a:prstGeom>
          <a:solidFill>
            <a:srgbClr val="2E7D32"/>
          </a:solidFill>
          <a:ln/>
        </p:spPr>
      </p:sp>
      <p:sp>
        <p:nvSpPr>
          <p:cNvPr id="17" name="Shape 15"/>
          <p:cNvSpPr/>
          <p:nvPr/>
        </p:nvSpPr>
        <p:spPr>
          <a:xfrm>
            <a:off x="777240" y="507492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7F7F7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5166360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partitioning, proven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840480" y="5166360"/>
            <a:ext cx="7635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built genuine PostgreSQL RANGE partitioning and proved it with EXPLAIN ANALYZE query plans.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analytics pipeline, built on real data, with recommendations we can defend end to end.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11064240" cy="2103120"/>
          </a:xfrm>
          <a:prstGeom prst="roundRect">
            <a:avLst>
              <a:gd name="adj" fmla="val 4348"/>
            </a:avLst>
          </a:prstGeom>
          <a:solidFill>
            <a:srgbClr val="2A3B7A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468880"/>
            <a:ext cx="10424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 across the board: Yahoo Finance, FRED, and the actual Kaggle fraud dataset.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models compared honestly, with a recommendation that changed once real data arrived.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genuinely interactive dashboard, real database partitioning, and streaming vs. batch ingestion.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4663440"/>
            <a:ext cx="5394960" cy="1463040"/>
          </a:xfrm>
          <a:prstGeom prst="roundRect">
            <a:avLst>
              <a:gd name="adj" fmla="val 6250"/>
            </a:avLst>
          </a:prstGeom>
          <a:solidFill>
            <a:srgbClr val="C9A24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48463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525780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i="1" dirty="0">
                <a:solidFill>
                  <a:srgbClr val="3A2E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https://github.com/g25ai1020-lab/Capstone-Project-Group-4.git</a:t>
            </a:r>
            <a:endParaRPr lang="en-US" sz="1300" i="1" dirty="0">
              <a:solidFill>
                <a:srgbClr val="3A2E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4663440"/>
            <a:ext cx="5394960" cy="1463040"/>
          </a:xfrm>
          <a:prstGeom prst="roundRect">
            <a:avLst>
              <a:gd name="adj" fmla="val 6250"/>
            </a:avLst>
          </a:prstGeom>
          <a:solidFill>
            <a:srgbClr val="C9A24B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48463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Walkthrough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37960" y="525780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i="1" dirty="0">
                <a:solidFill>
                  <a:srgbClr val="3A2E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https://drive.google.com/drive/folders/1mR8333WS1yrI_43AE5xzd_46PAwNNXOb</a:t>
            </a:r>
            <a:endParaRPr lang="en-US" sz="1300" i="1" dirty="0">
              <a:solidFill>
                <a:srgbClr val="3A2E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88136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J. Bollinger, Bollinger on Bollinger Bands. New York: McGraw-Hill, 2001.</a:t>
            </a:r>
            <a:endParaRPr lang="en-US" sz="12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J. W. Wilder, New Concepts in Technical Trading Systems. Greensboro, NC: Trend Research, 1978.</a:t>
            </a:r>
            <a:endParaRPr lang="en-US" sz="12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G. E. P. Box and G. M. Jenkins, Time Series Analysis: Forecasting and Control. San Francisco: Holden-Day, 1970.</a:t>
            </a:r>
            <a:endParaRPr lang="en-US" sz="12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T. Fischer and C. Krauss, "Deep learning with LSTM networks for financial market predictions," European Journal of Operational Research, vol. 270, no. 2, pp. 654-669, 2018.</a:t>
            </a:r>
            <a:endParaRPr lang="en-US" sz="12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E. F. Fama, "Efficient capital markets: A review of theory and empirical work," The Journal of Finance, vol. 25, no. 2, pp. 383-417, 1970.</a:t>
            </a:r>
            <a:endParaRPr lang="en-US" sz="12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A. Dal Pozzolo et al., "Calibrating probability with undersampling for unbalanced classification," IEEE SSCI, 2015, pp. 159-166.</a:t>
            </a:r>
            <a:endParaRPr lang="en-US" sz="12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A. Dal Pozzolo et al., "Credit card fraud detection: A realistic modeling and a novel learning strategy," IEEE TNNLS, vol. 29, no. 8, pp. 3784-3797, 2018.</a:t>
            </a:r>
            <a:endParaRPr lang="en-US" sz="12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N. V. Chawla et al., "SMOTE: Synthetic minority over-sampling technique," Journal of Artificial Intelligence Research, vol. 16, pp. 321-357, 2002.</a:t>
            </a:r>
            <a:endParaRPr lang="en-US" sz="12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J. Davis and M. Goadrich, "The relationship between Precision-Recall and ROC curves," ICML, 2006, pp. 233-240.</a:t>
            </a:r>
            <a:endParaRPr lang="en-US" sz="12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 R. Elmasri and S. B. Navathe, Fundamentals of Database Systems, 7th ed. Boston: Pearson, 2016.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6355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1477</Words>
  <Application>Microsoft Office PowerPoint</Application>
  <PresentationFormat>Widescreen</PresentationFormat>
  <Paragraphs>167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VijaySaikrishna Devabhakthuni</cp:lastModifiedBy>
  <cp:revision>5</cp:revision>
  <dcterms:created xsi:type="dcterms:W3CDTF">2026-07-12T14:03:59Z</dcterms:created>
  <dcterms:modified xsi:type="dcterms:W3CDTF">2026-07-12T17:48:44Z</dcterms:modified>
</cp:coreProperties>
</file>